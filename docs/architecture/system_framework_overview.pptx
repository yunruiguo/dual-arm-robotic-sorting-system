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Targets may be end-effector poses.</a:t>
            </a:r>
            <a:endParaRPr lang="zh-CN" altLang="en-US" dirty="0"/>
          </a:p>
        </p:txBody>
      </p:sp>
      <p:sp>
        <p:nvSpPr>
          <p:cNvPr id="3" name="Text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Force-control interfaces can be extended later.</a:t>
            </a:r>
            <a:endParaRPr lang="zh-CN" altLang="en-US" dirty="0"/>
          </a:p>
        </p:txBody>
      </p:sp>
      <p:sp>
        <p:nvSpPr>
          <p:cNvPr id="16" name="DateText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FooterText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Text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Text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Detect the box and output box-opening keypoints.</a:t>
            </a:r>
            <a:endParaRPr lang="zh-CN" altLang="en-US"/>
          </a:p>
        </p:txBody>
      </p:sp>
      <p:sp>
        <p:nvSpPr>
          <p:cNvPr id="3" name="ContentText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The cutting trajectory is computed in motion planning; flap-opening trajectories follow the same pattern.</a:t>
            </a:r>
            <a:endParaRPr lang="zh-CN" altLang="en-US" smtClean="0"/>
          </a:p>
          <a:p>
            <a:pPr lvl="1"/>
            <a:r>
              <a:rPr lang="zh-CN" altLang="en-US" smtClean="0"/>
              <a:t>Return the 6D pose of the gripper knife.</a:t>
            </a:r>
            <a:endParaRPr lang="zh-CN" altLang="en-US" smtClean="0"/>
          </a:p>
          <a:p>
            <a:pPr lvl="2"/>
            <a:r>
              <a:rPr lang="zh-CN" altLang="en-US" smtClean="0"/>
              <a:t>Use a planar grasping algorithm for vertical grasping in the gripper direction.</a:t>
            </a:r>
            <a:endParaRPr lang="zh-CN" altLang="en-US" smtClean="0"/>
          </a:p>
          <a:p>
            <a:pPr lvl="3"/>
            <a:r>
              <a:rPr lang="zh-CN" altLang="en-US" smtClean="0"/>
              <a:t>The later dual-arm sorting flow uses a fast 6D grasping method combined with planar grasping.</a:t>
            </a:r>
            <a:endParaRPr lang="zh-CN" altLang="en-US" smtClean="0"/>
          </a:p>
          <a:p>
            <a:pPr lvl="4"/>
            <a:r>
              <a:rPr lang="zh-CN" altLang="en-US" smtClean="0"/>
              <a:t>System architecture note</a:t>
            </a:r>
            <a:endParaRPr lang="zh-CN" altLang="en-US"/>
          </a:p>
        </p:txBody>
      </p:sp>
      <p:sp>
        <p:nvSpPr>
          <p:cNvPr id="4" name="DateText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Text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System architecture note</a:t>
            </a:r>
            <a:endParaRPr lang="zh-CN" altLang="en-US" dirty="0"/>
          </a:p>
        </p:txBody>
      </p:sp>
      <p:sp>
        <p:nvSpPr>
          <p:cNvPr id="3" name="TextText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System architecture note</a:t>
            </a:r>
            <a:endParaRPr lang="zh-CN" altLang="en-US" dirty="0"/>
          </a:p>
        </p:txBody>
      </p:sp>
      <p:sp>
        <p:nvSpPr>
          <p:cNvPr id="4" name="DateText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Text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System architecture note</a:t>
            </a:r>
            <a:endParaRPr lang="zh-CN" altLang="en-US"/>
          </a:p>
        </p:txBody>
      </p:sp>
      <p:sp>
        <p:nvSpPr>
          <p:cNvPr id="3" name="ContentText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System architecture note</a:t>
            </a:r>
            <a:endParaRPr lang="zh-CN" altLang="en-US" smtClean="0"/>
          </a:p>
          <a:p>
            <a:pPr lvl="1"/>
            <a:r>
              <a:rPr lang="zh-CN" altLang="en-US" smtClean="0"/>
              <a:t>System architecture note</a:t>
            </a:r>
            <a:endParaRPr lang="zh-CN" altLang="en-US" smtClean="0"/>
          </a:p>
          <a:p>
            <a:pPr lvl="2"/>
            <a:r>
              <a:rPr lang="zh-CN" altLang="en-US" smtClean="0"/>
              <a:t>System architecture note</a:t>
            </a:r>
            <a:endParaRPr lang="zh-CN" altLang="en-US" smtClean="0"/>
          </a:p>
          <a:p>
            <a:pPr lvl="3"/>
            <a:r>
              <a:rPr lang="zh-CN" altLang="en-US" smtClean="0"/>
              <a:t>System architecture note</a:t>
            </a:r>
            <a:endParaRPr lang="zh-CN" altLang="en-US" smtClean="0"/>
          </a:p>
          <a:p>
            <a:pPr lvl="4"/>
            <a:r>
              <a:rPr lang="zh-CN" altLang="en-US" smtClean="0"/>
              <a:t>System architecture note</a:t>
            </a:r>
            <a:endParaRPr lang="zh-CN" altLang="en-US"/>
          </a:p>
        </p:txBody>
      </p:sp>
      <p:sp>
        <p:nvSpPr>
          <p:cNvPr id="4" name="ContentText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System architecture note</a:t>
            </a:r>
            <a:endParaRPr lang="zh-CN" altLang="en-US" dirty="0"/>
          </a:p>
          <a:p>
            <a:pPr lvl="1"/>
            <a:r>
              <a:rPr lang="zh-CN" altLang="en-US" dirty="0"/>
              <a:t>System architecture note</a:t>
            </a:r>
            <a:endParaRPr lang="zh-CN" altLang="en-US" dirty="0"/>
          </a:p>
          <a:p>
            <a:pPr lvl="2"/>
            <a:r>
              <a:rPr lang="zh-CN" altLang="en-US" dirty="0"/>
              <a:t>System architecture note</a:t>
            </a:r>
            <a:endParaRPr lang="zh-CN" altLang="en-US" dirty="0"/>
          </a:p>
          <a:p>
            <a:pPr lvl="3"/>
            <a:r>
              <a:rPr lang="zh-CN" altLang="en-US" dirty="0"/>
              <a:t>System architecture note</a:t>
            </a:r>
            <a:endParaRPr lang="zh-CN" altLang="en-US" dirty="0"/>
          </a:p>
          <a:p>
            <a:pPr lvl="4"/>
            <a:r>
              <a:rPr lang="zh-CN" altLang="en-US" dirty="0"/>
              <a:t>System architecture note</a:t>
            </a:r>
            <a:endParaRPr lang="zh-CN" altLang="en-US" dirty="0"/>
          </a:p>
        </p:txBody>
      </p:sp>
      <p:sp>
        <p:nvSpPr>
          <p:cNvPr id="5" name="DateText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Text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System architecture note</a:t>
            </a:r>
            <a:endParaRPr lang="zh-CN" altLang="en-US"/>
          </a:p>
        </p:txBody>
      </p:sp>
      <p:sp>
        <p:nvSpPr>
          <p:cNvPr id="3" name="TextText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System architecture note</a:t>
            </a:r>
            <a:endParaRPr lang="zh-CN" altLang="en-US" dirty="0"/>
          </a:p>
        </p:txBody>
      </p:sp>
      <p:sp>
        <p:nvSpPr>
          <p:cNvPr id="4" name="ContentText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System architecture note</a:t>
            </a:r>
            <a:endParaRPr lang="zh-CN" altLang="en-US" smtClean="0"/>
          </a:p>
          <a:p>
            <a:pPr lvl="1"/>
            <a:r>
              <a:rPr lang="zh-CN" altLang="en-US" smtClean="0"/>
              <a:t>System architecture note</a:t>
            </a:r>
            <a:endParaRPr lang="zh-CN" altLang="en-US" smtClean="0"/>
          </a:p>
          <a:p>
            <a:pPr lvl="2"/>
            <a:r>
              <a:rPr lang="zh-CN" altLang="en-US" smtClean="0"/>
              <a:t>System architecture note</a:t>
            </a:r>
            <a:endParaRPr lang="zh-CN" altLang="en-US" smtClean="0"/>
          </a:p>
          <a:p>
            <a:pPr lvl="3"/>
            <a:r>
              <a:rPr lang="zh-CN" altLang="en-US" smtClean="0"/>
              <a:t>System architecture note</a:t>
            </a:r>
            <a:endParaRPr lang="zh-CN" altLang="en-US" smtClean="0"/>
          </a:p>
          <a:p>
            <a:pPr lvl="4"/>
            <a:r>
              <a:rPr lang="zh-CN" altLang="en-US" smtClean="0"/>
              <a:t>System architecture note</a:t>
            </a:r>
            <a:endParaRPr lang="zh-CN" altLang="en-US"/>
          </a:p>
        </p:txBody>
      </p:sp>
      <p:sp>
        <p:nvSpPr>
          <p:cNvPr id="5" name="TextText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System architecture note</a:t>
            </a:r>
            <a:endParaRPr lang="zh-CN" altLang="en-US"/>
          </a:p>
        </p:txBody>
      </p:sp>
      <p:sp>
        <p:nvSpPr>
          <p:cNvPr id="6" name="ContentText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System architecture note</a:t>
            </a:r>
            <a:endParaRPr lang="zh-CN" altLang="en-US" smtClean="0"/>
          </a:p>
          <a:p>
            <a:pPr lvl="1"/>
            <a:r>
              <a:rPr lang="zh-CN" altLang="en-US" smtClean="0"/>
              <a:t>System architecture note</a:t>
            </a:r>
            <a:endParaRPr lang="zh-CN" altLang="en-US" smtClean="0"/>
          </a:p>
          <a:p>
            <a:pPr lvl="2"/>
            <a:r>
              <a:rPr lang="zh-CN" altLang="en-US" smtClean="0"/>
              <a:t>System architecture note</a:t>
            </a:r>
            <a:endParaRPr lang="zh-CN" altLang="en-US" smtClean="0"/>
          </a:p>
          <a:p>
            <a:pPr lvl="3"/>
            <a:r>
              <a:rPr lang="zh-CN" altLang="en-US" smtClean="0"/>
              <a:t>System architecture note</a:t>
            </a:r>
            <a:endParaRPr lang="zh-CN" altLang="en-US" smtClean="0"/>
          </a:p>
          <a:p>
            <a:pPr lvl="4"/>
            <a:r>
              <a:rPr lang="zh-CN" altLang="en-US" smtClean="0"/>
              <a:t>System architecture note</a:t>
            </a:r>
            <a:endParaRPr lang="zh-CN" altLang="en-US"/>
          </a:p>
        </p:txBody>
      </p:sp>
      <p:sp>
        <p:nvSpPr>
          <p:cNvPr id="7" name="DateText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Text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System architecture note</a:t>
            </a:r>
            <a:endParaRPr lang="zh-CN" altLang="en-US"/>
          </a:p>
        </p:txBody>
      </p:sp>
      <p:sp>
        <p:nvSpPr>
          <p:cNvPr id="3" name="DateText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Text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ext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Text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ageText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TextText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System architecture note</a:t>
            </a:r>
            <a:endParaRPr lang="zh-CN" altLang="en-US"/>
          </a:p>
        </p:txBody>
      </p:sp>
      <p:sp>
        <p:nvSpPr>
          <p:cNvPr id="5" name="DateText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Text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Text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System architecture note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System architecture note</a:t>
            </a:r>
            <a:endParaRPr lang="zh-CN" altLang="en-US"/>
          </a:p>
        </p:txBody>
      </p:sp>
      <p:sp>
        <p:nvSpPr>
          <p:cNvPr id="3" name="Text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System architecture note</a:t>
            </a:r>
            <a:endParaRPr lang="zh-CN" altLang="en-US" dirty="0"/>
          </a:p>
          <a:p>
            <a:pPr lvl="1"/>
            <a:r>
              <a:rPr lang="zh-CN" altLang="en-US" dirty="0"/>
              <a:t>System architecture note</a:t>
            </a:r>
            <a:endParaRPr lang="zh-CN" altLang="en-US" dirty="0"/>
          </a:p>
          <a:p>
            <a:pPr lvl="2"/>
            <a:r>
              <a:rPr lang="zh-CN" altLang="en-US" dirty="0"/>
              <a:t>System architecture note</a:t>
            </a:r>
            <a:endParaRPr lang="zh-CN" altLang="en-US" dirty="0"/>
          </a:p>
          <a:p>
            <a:pPr lvl="3"/>
            <a:r>
              <a:rPr lang="zh-CN" altLang="en-US" dirty="0"/>
              <a:t>System architecture note</a:t>
            </a:r>
            <a:endParaRPr lang="zh-CN" altLang="en-US" dirty="0"/>
          </a:p>
          <a:p>
            <a:pPr lvl="4"/>
            <a:r>
              <a:rPr lang="zh-CN" altLang="en-US" dirty="0"/>
              <a:t>System architecture note</a:t>
            </a:r>
            <a:endParaRPr lang="zh-CN" altLang="en-US" dirty="0"/>
          </a:p>
        </p:txBody>
      </p:sp>
      <p:sp>
        <p:nvSpPr>
          <p:cNvPr id="4" name="DateText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Text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Text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Text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ContentText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A physics simulation engine should be designed for validation.</a:t>
            </a:r>
            <a:endParaRPr lang="zh-CN" altLang="en-US" dirty="0"/>
          </a:p>
          <a:p>
            <a:pPr lvl="1"/>
            <a:r>
              <a:rPr lang="zh-CN" altLang="en-US" dirty="0"/>
              <a:t>Box opening</a:t>
            </a:r>
            <a:endParaRPr lang="zh-CN" altLang="en-US" dirty="0"/>
          </a:p>
          <a:p>
            <a:pPr lvl="2"/>
            <a:r>
              <a:rPr lang="zh-CN" altLang="en-US" dirty="0"/>
              <a:t>Behavior layer:</a:t>
            </a:r>
            <a:endParaRPr lang="zh-CN" altLang="en-US" dirty="0"/>
          </a:p>
          <a:p>
            <a:pPr lvl="3"/>
            <a:r>
              <a:rPr lang="zh-CN" altLang="en-US" dirty="0"/>
              <a:t>Includes the dual-arm box-opening behavior-management node.</a:t>
            </a:r>
            <a:endParaRPr lang="zh-CN" altLang="en-US" dirty="0"/>
          </a:p>
          <a:p>
            <a:pPr lvl="4"/>
            <a:r>
              <a:rPr lang="zh-CN" altLang="en-US" dirty="0"/>
              <a:t>Includes dual-arm motion-control interfaces based on ROS 2 actions.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Text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Text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The complete process still needs a standardized behavior-tree module.</a:t>
            </a:r>
            <a:endParaRPr lang="zh-CN" altLang="en-US"/>
          </a:p>
        </p:txBody>
      </p:sp>
      <p:sp>
        <p:nvSpPr>
          <p:cNvPr id="7" name="TextText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Perception layer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System architecture note</a:t>
            </a:r>
            <a:endParaRPr lang="zh-CN" altLang="en-US" dirty="0"/>
          </a:p>
        </p:txBody>
      </p:sp>
      <p:sp>
        <p:nvSpPr>
          <p:cNvPr id="3" name="TextText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System architecture note</a:t>
            </a:r>
            <a:endParaRPr lang="zh-CN" altLang="en-US" dirty="0"/>
          </a:p>
          <a:p>
            <a:pPr lvl="1"/>
            <a:r>
              <a:rPr lang="zh-CN" altLang="en-US" dirty="0"/>
              <a:t>System architecture note</a:t>
            </a:r>
            <a:endParaRPr lang="zh-CN" altLang="en-US" dirty="0"/>
          </a:p>
          <a:p>
            <a:pPr lvl="2"/>
            <a:r>
              <a:rPr lang="zh-CN" altLang="en-US" dirty="0"/>
              <a:t>System architecture note</a:t>
            </a:r>
            <a:endParaRPr lang="zh-CN" altLang="en-US" dirty="0"/>
          </a:p>
          <a:p>
            <a:pPr lvl="3"/>
            <a:r>
              <a:rPr lang="zh-CN" altLang="en-US" dirty="0"/>
              <a:t>System architecture note</a:t>
            </a:r>
            <a:endParaRPr lang="zh-CN" altLang="en-US" dirty="0"/>
          </a:p>
          <a:p>
            <a:pPr lvl="4"/>
            <a:r>
              <a:rPr lang="zh-CN" altLang="en-US" dirty="0"/>
              <a:t>System architecture note</a:t>
            </a:r>
            <a:endParaRPr lang="zh-CN" altLang="en-US" dirty="0"/>
          </a:p>
        </p:txBody>
      </p:sp>
      <p:sp>
        <p:nvSpPr>
          <p:cNvPr id="4" name="DateText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Text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Text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4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125" y="781050"/>
            <a:ext cx="6675120" cy="5494020"/>
          </a:xfrm>
          <a:prstGeom prst="rect">
            <a:avLst/>
          </a:prstGeom>
        </p:spPr>
      </p:pic>
      <p:cxnSp>
        <p:nvCxnSpPr>
          <p:cNvPr id="5" name="Text 4"/>
          <p:cNvCxnSpPr/>
          <p:nvPr/>
        </p:nvCxnSpPr>
        <p:spPr>
          <a:xfrm flipV="1">
            <a:off x="3271520" y="1367790"/>
            <a:ext cx="2823845" cy="400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Text 5"/>
          <p:cNvCxnSpPr/>
          <p:nvPr/>
        </p:nvCxnSpPr>
        <p:spPr>
          <a:xfrm flipV="1">
            <a:off x="3660775" y="2614930"/>
            <a:ext cx="4230370" cy="29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Text 6"/>
          <p:cNvCxnSpPr/>
          <p:nvPr/>
        </p:nvCxnSpPr>
        <p:spPr>
          <a:xfrm>
            <a:off x="4269105" y="4370705"/>
            <a:ext cx="35223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Text 7"/>
          <p:cNvCxnSpPr/>
          <p:nvPr/>
        </p:nvCxnSpPr>
        <p:spPr>
          <a:xfrm flipV="1">
            <a:off x="4119880" y="5598160"/>
            <a:ext cx="3930650" cy="800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8"/>
          <p:cNvSpPr/>
          <p:nvPr/>
        </p:nvSpPr>
        <p:spPr>
          <a:xfrm>
            <a:off x="6593840" y="410210"/>
            <a:ext cx="2973070" cy="16262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TextText 9"/>
          <p:cNvSpPr txBox="1"/>
          <p:nvPr/>
        </p:nvSpPr>
        <p:spPr>
          <a:xfrm>
            <a:off x="6633845" y="499745"/>
            <a:ext cx="28835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System architecture note</a:t>
            </a:r>
            <a:r>
              <a:rPr lang="en-US" altLang="zh-CN"/>
              <a:t>api</a:t>
            </a:r>
            <a:r>
              <a:rPr lang="zh-CN" altLang="en-US"/>
              <a:t>System architecture note</a:t>
            </a:r>
            <a:r>
              <a:rPr lang="zh-CN" altLang="en-US"/>
              <a:t>System architecture note</a:t>
            </a:r>
            <a:br>
              <a:rPr lang="zh-CN" altLang="en-US"/>
            </a:br>
            <a:r>
              <a:rPr lang="zh-CN" altLang="en-US"/>
              <a:t>System architecture note</a:t>
            </a:r>
            <a:r>
              <a:rPr lang="zh-CN" altLang="en-US"/>
              <a:t>System architecture note</a:t>
            </a:r>
            <a:r>
              <a:rPr lang="zh-CN" altLang="en-US"/>
              <a:t>System architecture note</a:t>
            </a:r>
            <a:endParaRPr lang="zh-CN" altLang="en-US"/>
          </a:p>
        </p:txBody>
      </p:sp>
      <p:sp>
        <p:nvSpPr>
          <p:cNvPr id="11" name="Text 10"/>
          <p:cNvSpPr/>
          <p:nvPr/>
        </p:nvSpPr>
        <p:spPr>
          <a:xfrm>
            <a:off x="8317230" y="2273300"/>
            <a:ext cx="2973070" cy="16262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TextText 11"/>
          <p:cNvSpPr txBox="1"/>
          <p:nvPr/>
        </p:nvSpPr>
        <p:spPr>
          <a:xfrm>
            <a:off x="8357235" y="2362835"/>
            <a:ext cx="28835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System architecture note</a:t>
            </a:r>
            <a:r>
              <a:rPr lang="zh-CN" altLang="en-US"/>
              <a:t>System architecture note</a:t>
            </a:r>
            <a:r>
              <a:rPr lang="zh-CN" altLang="en-US"/>
              <a:t>System architecture note</a:t>
            </a:r>
            <a:endParaRPr lang="zh-CN" altLang="en-US"/>
          </a:p>
        </p:txBody>
      </p:sp>
      <p:sp>
        <p:nvSpPr>
          <p:cNvPr id="13" name="Text 12"/>
          <p:cNvSpPr/>
          <p:nvPr/>
        </p:nvSpPr>
        <p:spPr>
          <a:xfrm>
            <a:off x="8143875" y="4136390"/>
            <a:ext cx="3531235" cy="2462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TextText 13"/>
          <p:cNvSpPr txBox="1"/>
          <p:nvPr/>
        </p:nvSpPr>
        <p:spPr>
          <a:xfrm>
            <a:off x="8205470" y="4238625"/>
            <a:ext cx="3469005" cy="2298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System architecture note</a:t>
            </a:r>
            <a:r>
              <a:rPr lang="en-US" altLang="zh-CN"/>
              <a:t>6d</a:t>
            </a:r>
            <a:r>
              <a:rPr lang="zh-CN" altLang="en-US"/>
              <a:t>System architecture note</a:t>
            </a:r>
            <a:r>
              <a:rPr lang="zh-CN" altLang="en-US"/>
              <a:t>System architecture note</a:t>
            </a:r>
            <a:r>
              <a:rPr lang="zh-CN" altLang="en-US"/>
              <a:t>System architecture note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System architecture note</a:t>
            </a:r>
            <a:r>
              <a:rPr lang="zh-CN" altLang="en-US"/>
              <a:t>System architecture note</a:t>
            </a:r>
            <a:endParaRPr lang="zh-CN" altLang="en-US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1438910"/>
            <a:ext cx="5433060" cy="2865120"/>
          </a:xfrm>
          <a:prstGeom prst="rect">
            <a:avLst/>
          </a:prstGeom>
        </p:spPr>
      </p:pic>
      <p:sp>
        <p:nvSpPr>
          <p:cNvPr id="5" name="TextText 4"/>
          <p:cNvSpPr txBox="1"/>
          <p:nvPr/>
        </p:nvSpPr>
        <p:spPr>
          <a:xfrm>
            <a:off x="415290" y="4473575"/>
            <a:ext cx="4168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src</a:t>
            </a:r>
            <a:r>
              <a:rPr lang="zh-CN" altLang="en-US"/>
              <a:t>System architecture note</a:t>
            </a:r>
            <a:r>
              <a:rPr lang="en-US" altLang="zh-CN"/>
              <a:t>C++</a:t>
            </a:r>
            <a:endParaRPr lang="en-US" altLang="zh-CN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690" y="1072515"/>
            <a:ext cx="5182235" cy="3475355"/>
          </a:xfrm>
          <a:prstGeom prst="rect">
            <a:avLst/>
          </a:prstGeom>
        </p:spPr>
      </p:pic>
      <p:sp>
        <p:nvSpPr>
          <p:cNvPr id="7" name="TextText 6"/>
          <p:cNvSpPr txBox="1"/>
          <p:nvPr/>
        </p:nvSpPr>
        <p:spPr>
          <a:xfrm>
            <a:off x="6898005" y="4838700"/>
            <a:ext cx="42398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System architecture note</a:t>
            </a:r>
            <a:r>
              <a:rPr lang="en-US" altLang="zh-CN"/>
              <a:t>python</a:t>
            </a:r>
            <a:r>
              <a:rPr lang="zh-CN" altLang="en-US"/>
              <a:t>System architecture note</a:t>
            </a:r>
            <a:r>
              <a:rPr lang="en-US" altLang="zh-CN"/>
              <a:t>demo</a:t>
            </a:r>
            <a:r>
              <a:rPr lang="zh-CN" altLang="en-US"/>
              <a:t>System architecture note</a:t>
            </a:r>
            <a:r>
              <a:rPr lang="zh-CN" altLang="en-US"/>
              <a:t>System architecture note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System architecture note</a:t>
            </a:r>
            <a:r>
              <a:rPr lang="zh-CN" altLang="en-US"/>
              <a:t>System architecture note</a:t>
            </a:r>
            <a:endParaRPr lang="zh-CN" altLang="en-US"/>
          </a:p>
        </p:txBody>
      </p:sp>
      <p:pic>
        <p:nvPicPr>
          <p:cNvPr id="4" name="ContentText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4690" y="1884680"/>
            <a:ext cx="5295900" cy="1981200"/>
          </a:xfrm>
          <a:prstGeom prst="rect">
            <a:avLst/>
          </a:prstGeom>
        </p:spPr>
      </p:pic>
      <p:sp>
        <p:nvSpPr>
          <p:cNvPr id="5" name="TextText 4"/>
          <p:cNvSpPr txBox="1"/>
          <p:nvPr/>
        </p:nvSpPr>
        <p:spPr>
          <a:xfrm>
            <a:off x="6674485" y="1389380"/>
            <a:ext cx="37338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1mmros2</a:t>
            </a:r>
            <a:r>
              <a:rPr lang="zh-CN" altLang="en-US"/>
              <a:t>System architecture note</a:t>
            </a:r>
            <a:endParaRPr lang="zh-CN" altLang="en-US"/>
          </a:p>
          <a:p>
            <a:r>
              <a:rPr lang="en-US" altLang="zh-CN"/>
              <a:t>aruco_node</a:t>
            </a:r>
            <a:r>
              <a:rPr lang="zh-CN" altLang="en-US"/>
              <a:t>System architecture note</a:t>
            </a:r>
            <a:r>
              <a:rPr lang="zh-CN" altLang="en-US"/>
              <a:t>System architecture note</a:t>
            </a:r>
            <a:endParaRPr lang="zh-CN" altLang="en-US"/>
          </a:p>
          <a:p>
            <a:r>
              <a:rPr lang="en-US" altLang="zh-CN"/>
              <a:t>ros2depth_grasp </a:t>
            </a:r>
            <a:r>
              <a:rPr lang="zh-CN" altLang="en-US"/>
              <a:t>System architecture note</a:t>
            </a:r>
            <a:r>
              <a:rPr lang="en-US" altLang="zh-CN"/>
              <a:t>z</a:t>
            </a:r>
            <a:r>
              <a:rPr lang="zh-CN" altLang="en-US"/>
              <a:t>System architecture note</a:t>
            </a:r>
            <a:r>
              <a:rPr lang="en-US" altLang="zh-CN"/>
              <a:t>HGGD,</a:t>
            </a:r>
            <a:r>
              <a:rPr lang="zh-CN" altLang="en-US"/>
              <a:t>System architecture note</a:t>
            </a:r>
            <a:r>
              <a:rPr lang="en-US" altLang="zh-CN"/>
              <a:t>6D</a:t>
            </a:r>
            <a:r>
              <a:rPr lang="zh-CN" altLang="en-US"/>
              <a:t>System architecture note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,4,7,12,13,14,15,16,17,18,20,24,25,28,33,36,40,43,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,4,7,12,13,14,15,16,17,18,20,24,25,28,33,36,40,43,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The large-model layer is usually exposed through an API.</Application>
  <PresentationFormat>User input can come from voice or a dialog box.</PresentationFormat>
  <Paragraphs>18</Paragraphs>
  <Slides>3</Slides>
  <Notes>4</Notes>
  <HiddenSlides>0</HiddenSlides>
  <MMClips>0</MMClips>
  <ScaleCrop>false</ScaleCrop>
  <HeadingPairs>
    <vt:vector size="6" baseType="variant">
      <vt:variant>
        <vt:lpstr>The implementation usually wraps an existing model service.</vt:lpstr>
      </vt:variant>
      <vt:variant>
        <vt:i4>7</vt:i4>
      </vt:variant>
      <vt:variant>
        <vt:lpstr>Define the base behavior tree as a common reusable capability.</vt:lpstr>
      </vt:variant>
      <vt:variant>
        <vt:i4>1</vt:i4>
      </vt:variant>
      <vt:variant>
        <vt:lpstr>Expose behavior-tree functions through a clear interface.</vt:lpstr>
      </vt:variant>
      <vt:variant>
        <vt:i4>3</vt:i4>
      </vt:variant>
    </vt:vector>
  </HeadingPairs>
  <TitlesOfParts>
    <vt:vector size="11" baseType="lpstr">
      <vt:lpstr>Arial</vt:lpstr>
      <vt:lpstr>Custom behavior nodes can be added for specialized tasks.</vt:lpstr>
      <vt:lpstr>Wingdings</vt:lpstr>
      <vt:lpstr>Wingdings</vt:lpstr>
      <vt:lpstr>Perception software should provide graphical input and output.</vt:lpstr>
      <vt:lpstr>Arial Unicode MS</vt:lpstr>
      <vt:lpstr>Calibri</vt:lpstr>
      <vt:lpstr>WPS</vt:lpstr>
      <vt:lpstr>Built-in algorithms can be selected according to data requirements.</vt:lpstr>
      <vt:lpstr>Visualization and logging are required for debugging.</vt:lpstr>
      <vt:lpstr>Motion-planning software should connect to different robot interfaces.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software should visualize trajectories and define collision walls.</dc:title>
  <dc:creator/>
  <cp:lastModifiedBy>It should accept point-cloud input from perception software.</cp:lastModifiedBy>
  <cp:revision>155</cp:revision>
  <dcterms:created xsi:type="dcterms:W3CDTF">2019-06-19T02:08:00Z</dcterms:created>
  <dcterms:modified xsi:type="dcterms:W3CDTF">2025-11-02T12:49:37Z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96D30E5A35D54CC685E71AD8376C8417_11</vt:lpwstr>
  </property>
</Properties>
</file>